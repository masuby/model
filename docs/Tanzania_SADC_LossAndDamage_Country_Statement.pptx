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267" r:id="rId3"/>
    <p:sldId id="272" r:id="rId14"/>
    <p:sldId id="268" r:id="rId4"/>
    <p:sldId id="269" r:id="rId5"/>
    <p:sldId id="270" r:id="rId6"/>
    <p:sldId id="273" r:id="rId15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tus Ng'andu" userId="8706eca1-7b85-4a15-9100-6b97d21f17a3" providerId="ADAL" clId="{08A7C7B4-FA01-465B-9D4A-3DAFE47D79A6}"/>
    <pc:docChg chg="custSel addSld modSld">
      <pc:chgData name="Titus Ng'andu" userId="8706eca1-7b85-4a15-9100-6b97d21f17a3" providerId="ADAL" clId="{08A7C7B4-FA01-465B-9D4A-3DAFE47D79A6}" dt="2026-06-03T06:51:26.905" v="1083" actId="20577"/>
      <pc:docMkLst>
        <pc:docMk/>
      </pc:docMkLst>
      <pc:sldChg chg="modSp mod">
        <pc:chgData name="Titus Ng'andu" userId="8706eca1-7b85-4a15-9100-6b97d21f17a3" providerId="ADAL" clId="{08A7C7B4-FA01-465B-9D4A-3DAFE47D79A6}" dt="2026-06-02T11:29:08.491" v="13" actId="20577"/>
        <pc:sldMkLst>
          <pc:docMk/>
          <pc:sldMk cId="3581761718" sldId="257"/>
        </pc:sldMkLst>
        <pc:spChg chg="mod">
          <ac:chgData name="Titus Ng'andu" userId="8706eca1-7b85-4a15-9100-6b97d21f17a3" providerId="ADAL" clId="{08A7C7B4-FA01-465B-9D4A-3DAFE47D79A6}" dt="2026-06-02T11:29:08.491" v="13" actId="20577"/>
          <ac:spMkLst>
            <pc:docMk/>
            <pc:sldMk cId="3581761718" sldId="257"/>
            <ac:spMk id="7" creationId="{A3199D14-BB43-496A-810E-08FA8D1320D7}"/>
          </ac:spMkLst>
        </pc:spChg>
      </pc:sldChg>
      <pc:sldChg chg="modSp mod">
        <pc:chgData name="Titus Ng'andu" userId="8706eca1-7b85-4a15-9100-6b97d21f17a3" providerId="ADAL" clId="{08A7C7B4-FA01-465B-9D4A-3DAFE47D79A6}" dt="2026-06-02T17:16:07.223" v="930" actId="20577"/>
        <pc:sldMkLst>
          <pc:docMk/>
          <pc:sldMk cId="1961641587" sldId="267"/>
        </pc:sldMkLst>
        <pc:spChg chg="mod">
          <ac:chgData name="Titus Ng'andu" userId="8706eca1-7b85-4a15-9100-6b97d21f17a3" providerId="ADAL" clId="{08A7C7B4-FA01-465B-9D4A-3DAFE47D79A6}" dt="2026-06-02T11:29:30.512" v="29" actId="20577"/>
          <ac:spMkLst>
            <pc:docMk/>
            <pc:sldMk cId="1961641587" sldId="267"/>
            <ac:spMk id="2" creationId="{6D1B47A6-48FC-47FB-48B2-A9C0A50902B4}"/>
          </ac:spMkLst>
        </pc:spChg>
        <pc:spChg chg="mod">
          <ac:chgData name="Titus Ng'andu" userId="8706eca1-7b85-4a15-9100-6b97d21f17a3" providerId="ADAL" clId="{08A7C7B4-FA01-465B-9D4A-3DAFE47D79A6}" dt="2026-06-02T17:16:07.223" v="930" actId="20577"/>
          <ac:spMkLst>
            <pc:docMk/>
            <pc:sldMk cId="1961641587" sldId="267"/>
            <ac:spMk id="3" creationId="{CD43A050-EF43-BFDB-1B99-0328CCC2754D}"/>
          </ac:spMkLst>
        </pc:spChg>
      </pc:sldChg>
      <pc:sldChg chg="modSp mod">
        <pc:chgData name="Titus Ng'andu" userId="8706eca1-7b85-4a15-9100-6b97d21f17a3" providerId="ADAL" clId="{08A7C7B4-FA01-465B-9D4A-3DAFE47D79A6}" dt="2026-06-02T17:06:47.897" v="614" actId="6549"/>
        <pc:sldMkLst>
          <pc:docMk/>
          <pc:sldMk cId="2515149256" sldId="268"/>
        </pc:sldMkLst>
        <pc:spChg chg="mod">
          <ac:chgData name="Titus Ng'andu" userId="8706eca1-7b85-4a15-9100-6b97d21f17a3" providerId="ADAL" clId="{08A7C7B4-FA01-465B-9D4A-3DAFE47D79A6}" dt="2026-06-02T11:30:59.012" v="137" actId="6549"/>
          <ac:spMkLst>
            <pc:docMk/>
            <pc:sldMk cId="2515149256" sldId="268"/>
            <ac:spMk id="2" creationId="{BD9EA430-DFFB-F6D1-E675-A0F52D660B51}"/>
          </ac:spMkLst>
        </pc:spChg>
        <pc:spChg chg="mod">
          <ac:chgData name="Titus Ng'andu" userId="8706eca1-7b85-4a15-9100-6b97d21f17a3" providerId="ADAL" clId="{08A7C7B4-FA01-465B-9D4A-3DAFE47D79A6}" dt="2026-06-02T17:06:47.897" v="614" actId="6549"/>
          <ac:spMkLst>
            <pc:docMk/>
            <pc:sldMk cId="2515149256" sldId="268"/>
            <ac:spMk id="3" creationId="{E7EB5784-6001-EEE3-4930-576448C45B94}"/>
          </ac:spMkLst>
        </pc:spChg>
      </pc:sldChg>
      <pc:sldChg chg="modSp mod">
        <pc:chgData name="Titus Ng'andu" userId="8706eca1-7b85-4a15-9100-6b97d21f17a3" providerId="ADAL" clId="{08A7C7B4-FA01-465B-9D4A-3DAFE47D79A6}" dt="2026-06-03T06:51:26.905" v="1083" actId="20577"/>
        <pc:sldMkLst>
          <pc:docMk/>
          <pc:sldMk cId="583006665" sldId="269"/>
        </pc:sldMkLst>
        <pc:spChg chg="mod">
          <ac:chgData name="Titus Ng'andu" userId="8706eca1-7b85-4a15-9100-6b97d21f17a3" providerId="ADAL" clId="{08A7C7B4-FA01-465B-9D4A-3DAFE47D79A6}" dt="2026-06-02T17:01:25.783" v="376" actId="20577"/>
          <ac:spMkLst>
            <pc:docMk/>
            <pc:sldMk cId="583006665" sldId="269"/>
            <ac:spMk id="2" creationId="{DFA953E7-C018-C88C-156B-C1FD0B2D236F}"/>
          </ac:spMkLst>
        </pc:spChg>
        <pc:spChg chg="mod">
          <ac:chgData name="Titus Ng'andu" userId="8706eca1-7b85-4a15-9100-6b97d21f17a3" providerId="ADAL" clId="{08A7C7B4-FA01-465B-9D4A-3DAFE47D79A6}" dt="2026-06-03T06:51:26.905" v="1083" actId="20577"/>
          <ac:spMkLst>
            <pc:docMk/>
            <pc:sldMk cId="583006665" sldId="269"/>
            <ac:spMk id="3" creationId="{3527CB85-1D6C-05F0-901F-E2A97115AE9B}"/>
          </ac:spMkLst>
        </pc:spChg>
      </pc:sldChg>
      <pc:sldChg chg="modSp add mod">
        <pc:chgData name="Titus Ng'andu" userId="8706eca1-7b85-4a15-9100-6b97d21f17a3" providerId="ADAL" clId="{08A7C7B4-FA01-465B-9D4A-3DAFE47D79A6}" dt="2026-06-02T17:01:43.848" v="386" actId="6549"/>
        <pc:sldMkLst>
          <pc:docMk/>
          <pc:sldMk cId="1097164009" sldId="270"/>
        </pc:sldMkLst>
        <pc:spChg chg="mod">
          <ac:chgData name="Titus Ng'andu" userId="8706eca1-7b85-4a15-9100-6b97d21f17a3" providerId="ADAL" clId="{08A7C7B4-FA01-465B-9D4A-3DAFE47D79A6}" dt="2026-06-02T11:32:21.289" v="249" actId="20577"/>
          <ac:spMkLst>
            <pc:docMk/>
            <pc:sldMk cId="1097164009" sldId="270"/>
            <ac:spMk id="2" creationId="{B725D9B5-5550-D9FF-A314-CFE0DDBDDCCB}"/>
          </ac:spMkLst>
        </pc:spChg>
        <pc:spChg chg="mod">
          <ac:chgData name="Titus Ng'andu" userId="8706eca1-7b85-4a15-9100-6b97d21f17a3" providerId="ADAL" clId="{08A7C7B4-FA01-465B-9D4A-3DAFE47D79A6}" dt="2026-06-02T17:01:43.848" v="386" actId="6549"/>
          <ac:spMkLst>
            <pc:docMk/>
            <pc:sldMk cId="1097164009" sldId="270"/>
            <ac:spMk id="3" creationId="{41488CC1-0B0F-10B5-F8DE-2C6B058BAA38}"/>
          </ac:spMkLst>
        </pc:spChg>
      </pc:sldChg>
      <pc:sldChg chg="modSp add mod">
        <pc:chgData name="Titus Ng'andu" userId="8706eca1-7b85-4a15-9100-6b97d21f17a3" providerId="ADAL" clId="{08A7C7B4-FA01-465B-9D4A-3DAFE47D79A6}" dt="2026-06-02T17:18:32.341" v="971" actId="20577"/>
        <pc:sldMkLst>
          <pc:docMk/>
          <pc:sldMk cId="2312414735" sldId="271"/>
        </pc:sldMkLst>
        <pc:spChg chg="mod">
          <ac:chgData name="Titus Ng'andu" userId="8706eca1-7b85-4a15-9100-6b97d21f17a3" providerId="ADAL" clId="{08A7C7B4-FA01-465B-9D4A-3DAFE47D79A6}" dt="2026-06-02T17:18:32.341" v="971" actId="20577"/>
          <ac:spMkLst>
            <pc:docMk/>
            <pc:sldMk cId="2312414735" sldId="271"/>
            <ac:spMk id="2" creationId="{5716A53D-57CD-AD8D-94DB-A7A533BD7B17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D5E13-E556-4FA3-822D-4B2527FDEB0A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1F8CE-1DDF-4B80-8D9A-71D407265C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10119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C3433D-E9AA-4D7B-A09C-4EAF2242FD4B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4426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26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9198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406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724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113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7180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553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6601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479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441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0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461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1395" y="3395883"/>
            <a:ext cx="6862710" cy="49660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ZA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2D3B14-8A94-45A2-AC62-F3F6C020B75F}"/>
              </a:ext>
            </a:extLst>
          </p:cNvPr>
          <p:cNvSpPr txBox="1">
            <a:spLocks/>
          </p:cNvSpPr>
          <p:nvPr/>
        </p:nvSpPr>
        <p:spPr>
          <a:xfrm>
            <a:off x="2140783" y="2511906"/>
            <a:ext cx="7610168" cy="1631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099105" y="4388924"/>
            <a:ext cx="5969888" cy="7356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ZA" sz="2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ZA" sz="2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3199D14-BB43-496A-810E-08FA8D132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0" y="826304"/>
            <a:ext cx="9791700" cy="1325563"/>
          </a:xfrm>
        </p:spPr>
        <p:txBody>
          <a:bodyPr>
            <a:noAutofit/>
          </a:bodyPr>
          <a:lstStyle/>
          <a:p>
            <a:pPr algn="ctr"/>
            <a:r>
              <a:rPr lang="en-ZA" sz="4800" dirty="0"/>
              <a:t>UNITED REPUBLIC OF TANZANIA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2D0A7F-723C-46FE-81BD-7A379190C466}"/>
              </a:ext>
            </a:extLst>
          </p:cNvPr>
          <p:cNvSpPr txBox="1">
            <a:spLocks/>
          </p:cNvSpPr>
          <p:nvPr/>
        </p:nvSpPr>
        <p:spPr>
          <a:xfrm>
            <a:off x="4373125" y="5486141"/>
            <a:ext cx="4470400" cy="596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02A43"/>
                </a:solidFill>
              </a:rPr>
              <a:t>Loss and Damage (L&amp;D): Country Statement</a:t>
            </a:r>
          </a:p>
          <a:p>
            <a:r>
              <a:rPr sz="1300" b="0">
                <a:solidFill>
                  <a:srgbClr val="102A43"/>
                </a:solidFill>
              </a:rPr>
              <a:t>Meeting of SADC Ministers Responsible for Disaster Risk Management — Masvingo, Zimbabwe, May 2026</a:t>
            </a:r>
          </a:p>
          <a:p>
            <a:r>
              <a:rPr sz="1200" b="0">
                <a:solidFill>
                  <a:srgbClr val="102A43"/>
                </a:solidFill>
              </a:rPr>
              <a:t>Prime Minister's Office – Disaster Management Department (PMO-DMD)  ·  Vice President's Office (Division of Environment)</a:t>
            </a:r>
          </a:p>
        </p:txBody>
      </p:sp>
    </p:spTree>
    <p:extLst>
      <p:ext uri="{BB962C8B-B14F-4D97-AF65-F5344CB8AC3E}">
        <p14:creationId xmlns:p14="http://schemas.microsoft.com/office/powerpoint/2010/main" val="3581761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B47A6-48FC-47FB-48B2-A9C0A509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00" y="365127"/>
            <a:ext cx="9118600" cy="1325563"/>
          </a:xfrm>
        </p:spPr>
        <p:txBody>
          <a:bodyPr/>
          <a:lstStyle/>
          <a:p>
            <a:r>
              <a:rPr lang="en-US" b="1" dirty="0"/>
              <a:t>1.0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3A050-EF43-BFDB-1B99-0328CCC27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6640" y="1825625"/>
            <a:ext cx="9027160" cy="4351338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400"/>
              <a:t>L&amp;D = the unavoidable and irreversible impacts of climate change that go beyond what adaptation and DRR can prevent.</a:t>
            </a:r>
          </a:p>
          <a:p>
            <a:pPr>
              <a:spcAft>
                <a:spcPts val="500"/>
              </a:spcAft>
            </a:pPr>
            <a:r>
              <a:rPr sz="1400"/>
              <a:t>DROUGHT (slow-onset) — recurrent in the semi-arid centre (Dodoma, Singida, Manyara, Shinyanga, Simiyu); the 2001–2010 decade was the driest; severe events 2003, 2006, 2009–2011. Hits rain-fed agriculture (~26% of GDP, 65% of jobs) and hydropower (~35% of electricity).</a:t>
            </a:r>
          </a:p>
          <a:p>
            <a:pPr>
              <a:spcAft>
                <a:spcPts val="500"/>
              </a:spcAft>
            </a:pPr>
            <a:r>
              <a:rPr sz="1400"/>
              <a:t>FLOODS (rapid-onset) — annual in the Rufiji–Kibiti delta, Dar es Salaam (Msimbazi basin), Kilombero, Kilosa, Kyela. April 2024 floods left ~88,000 people in need in Rufiji alone.</a:t>
            </a:r>
          </a:p>
          <a:p>
            <a:pPr>
              <a:spcAft>
                <a:spcPts val="500"/>
              </a:spcAft>
            </a:pPr>
            <a:r>
              <a:rPr sz="1400"/>
              <a:t>TROPICAL CYCLONES (emerging) — historically rare; Cyclone Hidaya made the first modern landfall (Mafia Island, 4 May 2024), affecting 18,862 people and destroying 678 houses.</a:t>
            </a:r>
          </a:p>
          <a:p>
            <a:pPr>
              <a:spcAft>
                <a:spcPts val="500"/>
              </a:spcAft>
            </a:pPr>
            <a:r>
              <a:rPr sz="1400"/>
              <a:t>SEA-LEVEL RISE &amp; COASTAL EROSION (slow-onset, irreversible) — shoreline retreat ~3 m/yr at Dar es Salaam; Maziwe Island (Pangani) permanently eroded away by the early 1980s; mangrove and Kilimanjaro glacier loss.</a:t>
            </a:r>
          </a:p>
        </p:txBody>
      </p:sp>
    </p:spTree>
    <p:extLst>
      <p:ext uri="{BB962C8B-B14F-4D97-AF65-F5344CB8AC3E}">
        <p14:creationId xmlns:p14="http://schemas.microsoft.com/office/powerpoint/2010/main" val="1961641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A430-DFFB-F6D1-E675-A0F52D66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365127"/>
            <a:ext cx="8976360" cy="1325563"/>
          </a:xfrm>
        </p:spPr>
        <p:txBody>
          <a:bodyPr/>
          <a:lstStyle/>
          <a:p>
            <a:r>
              <a:rPr lang="en-US" b="1" dirty="0"/>
              <a:t>2. National legislation/policy frameworks to address L&amp;D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B5784-6001-EEE3-4930-576448C45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1825625"/>
            <a:ext cx="8976360" cy="4351338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600"/>
              <a:t>National disaster management legal framework and DRM strategy.</a:t>
            </a:r>
          </a:p>
          <a:p>
            <a:pPr>
              <a:spcAft>
                <a:spcPts val="500"/>
              </a:spcAft>
            </a:pPr>
            <a:r>
              <a:rPr sz="1600"/>
              <a:t>National climate change response strategy — mainstreaming adaptation, mitigation and loss &amp; damage.</a:t>
            </a:r>
          </a:p>
          <a:p>
            <a:pPr>
              <a:spcAft>
                <a:spcPts val="500"/>
              </a:spcAft>
            </a:pPr>
            <a:r>
              <a:rPr sz="1600"/>
              <a:t>Emergency preparedness and response plans; environmental management legislation; National Adaptation Plan / NDC.</a:t>
            </a:r>
          </a:p>
          <a:p>
            <a:pPr>
              <a:spcAft>
                <a:spcPts val="500"/>
              </a:spcAft>
            </a:pPr>
            <a:r>
              <a:rPr sz="1600"/>
              <a:t>Specific L&amp;D focus — provisions for early recovery, rehabilitation and reconstruction.</a:t>
            </a:r>
          </a:p>
          <a:p>
            <a:pPr>
              <a:spcAft>
                <a:spcPts val="500"/>
              </a:spcAft>
            </a:pPr>
            <a:r>
              <a:rPr sz="1600"/>
              <a:t>[Sample — insert the country’s specific Acts, policies and frameworks here.]</a:t>
            </a:r>
          </a:p>
        </p:txBody>
      </p:sp>
    </p:spTree>
    <p:extLst>
      <p:ext uri="{BB962C8B-B14F-4D97-AF65-F5344CB8AC3E}">
        <p14:creationId xmlns:p14="http://schemas.microsoft.com/office/powerpoint/2010/main" val="2515149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53E7-C018-C88C-156B-C1FD0B2D2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7374" y="365127"/>
            <a:ext cx="9076426" cy="1325563"/>
          </a:xfrm>
        </p:spPr>
        <p:txBody>
          <a:bodyPr>
            <a:normAutofit/>
          </a:bodyPr>
          <a:lstStyle/>
          <a:p>
            <a:r>
              <a:rPr lang="en-US" dirty="0"/>
              <a:t> 3. National Coordination           	Arrangements  for L&amp;D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7CB85-1D6C-05F0-901F-E2A97115A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/>
              <a:t>Lead institution for disaster management coordination (e.g. the Prime Minister’s Office).</a:t>
            </a:r>
          </a:p>
          <a:p>
            <a:pPr>
              <a:spcAft>
                <a:spcPts val="500"/>
              </a:spcAft>
            </a:pPr>
            <a:r>
              <a:rPr sz="1500"/>
              <a:t>National, regional and district disaster management committees; ward and village structures.</a:t>
            </a:r>
          </a:p>
          <a:p>
            <a:pPr>
              <a:spcAft>
                <a:spcPts val="500"/>
              </a:spcAft>
            </a:pPr>
            <a:r>
              <a:rPr sz="1500"/>
              <a:t>National emergency operations / communication centre.</a:t>
            </a:r>
          </a:p>
          <a:p>
            <a:pPr>
              <a:spcAft>
                <a:spcPts val="500"/>
              </a:spcAft>
            </a:pPr>
            <a:r>
              <a:rPr sz="1500"/>
              <a:t>Climate / UNFCCC focal point — entry point for L&amp;D, the Fund for Responding to Loss &amp; Damage (FRLD) and the Santiago Network.</a:t>
            </a:r>
          </a:p>
          <a:p>
            <a:pPr>
              <a:spcAft>
                <a:spcPts val="500"/>
              </a:spcAft>
            </a:pPr>
            <a:r>
              <a:rPr sz="1500"/>
              <a:t>Current / ongoing L&amp;D initiatives and sources of funding (national fund + development partners).</a:t>
            </a:r>
          </a:p>
          <a:p>
            <a:pPr>
              <a:spcAft>
                <a:spcPts val="500"/>
              </a:spcAft>
            </a:pPr>
            <a:r>
              <a:rPr sz="1500"/>
              <a:t>[Sample — insert the country’s specific coordination arrangements and focal points here.]</a:t>
            </a:r>
          </a:p>
        </p:txBody>
      </p:sp>
    </p:spTree>
    <p:extLst>
      <p:ext uri="{BB962C8B-B14F-4D97-AF65-F5344CB8AC3E}">
        <p14:creationId xmlns:p14="http://schemas.microsoft.com/office/powerpoint/2010/main" val="58300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8F5D0-B924-4B59-AB3E-CDEDA0726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D9B5-5550-D9FF-A314-CFE0DDBDD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4.Opportunities and Challenges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88CC1-0B0F-10B5-F8DE-2C6B058BA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400"/>
              <a:t>OPPORTUNITIES</a:t>
            </a:r>
            <a:endParaRPr lang="en-US" dirty="0"/>
          </a:p>
          <a:p>
            <a:pPr lvl="1">
              <a:spcAft>
                <a:spcPts val="500"/>
              </a:spcAft>
            </a:pPr>
            <a:r>
              <a:rPr sz="1300"/>
              <a:t>Subnational risk modelling — a transparent engine that reproduces the SADC INFORM Country Model exactly (validated 8,664/8,664) and scales it from the national/regional model to all 195 councils, enabling council-level L&amp;D assessment.</a:t>
            </a:r>
          </a:p>
          <a:p>
            <a:pPr lvl="1">
              <a:spcAft>
                <a:spcPts val="500"/>
              </a:spcAft>
            </a:pPr>
            <a:r>
              <a:rPr sz="1300"/>
              <a:t>Local-data + Earth-Observation integration (2022 census, TMA CHIRPS/ERA5, satellite NDVI &amp; soil moisture) to quantify exposure and loss where it occurs.</a:t>
            </a:r>
          </a:p>
          <a:p>
            <a:pPr lvl="1">
              <a:spcAft>
                <a:spcPts val="500"/>
              </a:spcAft>
            </a:pPr>
            <a:r>
              <a:rPr sz="1300"/>
              <a:t>Predictable access to the FRLD and GCF for recovery, rehabilitation and reconstruction; Santiago Network technical assistance; SADC regional cooperation via DRMIMS.</a:t>
            </a:r>
          </a:p>
          <a:p>
            <a:pPr>
              <a:spcAft>
                <a:spcPts val="500"/>
              </a:spcAft>
            </a:pPr>
            <a:r>
              <a:rPr sz="1400"/>
              <a:t>CHALLENGES</a:t>
            </a:r>
          </a:p>
          <a:p>
            <a:pPr lvl="1">
              <a:spcAft>
                <a:spcPts val="500"/>
              </a:spcAft>
            </a:pPr>
            <a:r>
              <a:rPr sz="1300"/>
              <a:t>Quantifying L&amp;D — both economic and non-economic (lives, ecosystems, culture, displacement); slow-onset losses (drought, SLR, desertification) are hard to attribute and value.</a:t>
            </a:r>
          </a:p>
          <a:p>
            <a:pPr lvl="1">
              <a:spcAft>
                <a:spcPts val="500"/>
              </a:spcAft>
            </a:pPr>
            <a:r>
              <a:rPr sz="1300"/>
              <a:t>Subnational data and granularity gaps — many indicators exist only at national/regional level; sustainable financing and local-government capacity remain limited.</a:t>
            </a:r>
          </a:p>
        </p:txBody>
      </p:sp>
    </p:spTree>
    <p:extLst>
      <p:ext uri="{BB962C8B-B14F-4D97-AF65-F5344CB8AC3E}">
        <p14:creationId xmlns:p14="http://schemas.microsoft.com/office/powerpoint/2010/main" val="1097164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C793F-E04B-1ED3-678A-C9141CB0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6A53D-57CD-AD8D-94DB-A7A533BD7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5.Conclusion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C53A8-83A9-D560-D5B5-7C9E1BA32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/>
              <a:t>Tanzania faces rising and increasingly unavoidable climate loss &amp; damage — slow-onset drought and sea-level rise, and intensifying rapid-onset floods and cyclones.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500"/>
              <a:t>A modern legal and institutional base is in place — DM Act No. 6 of 2022 and the TDMA, NDMS 2022–2027, and NCCRS 2021–2026 — coordinated by PMO-DMD with the Vice President’s Office as climate/L&amp;D focal point.</a:t>
            </a:r>
          </a:p>
          <a:p>
            <a:pPr>
              <a:spcAft>
                <a:spcPts val="500"/>
              </a:spcAft>
            </a:pPr>
            <a:r>
              <a:rPr sz="1500"/>
              <a:t>Priority: strengthen subnational L&amp;D assessment (council-level risk modelling + local data) and secure predictable access to the FRLD and the Santiago Network.</a:t>
            </a:r>
          </a:p>
          <a:p>
            <a:pPr>
              <a:spcAft>
                <a:spcPts val="500"/>
              </a:spcAft>
            </a:pPr>
            <a:r>
              <a:rPr sz="1500"/>
              <a:t>Tanzania is ready to partner regionally through SADC on shared methods, data and finance for averting, minimizing and addressing loss &amp; damage.</a:t>
            </a:r>
          </a:p>
        </p:txBody>
      </p:sp>
    </p:spTree>
    <p:extLst>
      <p:ext uri="{BB962C8B-B14F-4D97-AF65-F5344CB8AC3E}">
        <p14:creationId xmlns:p14="http://schemas.microsoft.com/office/powerpoint/2010/main" val="231241473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 Disaster Profile — the ten-year climate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/>
              <a:t>Multi-product analysis of 35 years of rainfall (CHIRPS, ERA5-Land, GPCC, IMERG) across the 8 national rainfall zones (Kaijage et al., 2025):</a:t>
            </a:r>
          </a:p>
          <a:p>
            <a:pPr lvl="1">
              <a:spcAft>
                <a:spcPts val="500"/>
              </a:spcAft>
            </a:pPr>
            <a:r>
              <a:rPr sz="1400"/>
              <a:t>Significant annual wetting in the Lake Victoria Basin (+8.9 mm/yr) and the Western zone (+7.4 mm/yr).</a:t>
            </a:r>
          </a:p>
          <a:p>
            <a:pPr lvl="1">
              <a:spcAft>
                <a:spcPts val="500"/>
              </a:spcAft>
            </a:pPr>
            <a:r>
              <a:rPr sz="1400"/>
              <a:t>Short-rains (OND) wetting in 6 of 8 zones; recovery of the long rains (MAM) after the post-1999 decline.</a:t>
            </a:r>
          </a:p>
          <a:p>
            <a:pPr lvl="1">
              <a:spcAft>
                <a:spcPts val="500"/>
              </a:spcAft>
            </a:pPr>
            <a:r>
              <a:rPr sz="1400"/>
              <a:t>Rising frequency of very-heavy rainfall (&gt;50 / &gt;100 mm/day) — the driver of flash floods and landslides.</a:t>
            </a:r>
          </a:p>
          <a:p>
            <a:pPr>
              <a:spcAft>
                <a:spcPts val="500"/>
              </a:spcAft>
            </a:pPr>
            <a:r>
              <a:rPr sz="1500"/>
              <a:t>Magnitude &amp; return period — severe meteorological drought recurs roughly 1-in-5 to 1-in-7 years in the semi-arid centre; extreme-rain return periods are shortening.</a:t>
            </a:r>
          </a:p>
          <a:p>
            <a:pPr>
              <a:spcAft>
                <a:spcPts val="500"/>
              </a:spcAft>
            </a:pPr>
            <a:r>
              <a:rPr sz="1500"/>
              <a:t>Implication for L&amp;D — intensifying rapid-onset floods/cyclones plus persistent slow-onset drought and sea-level rise mean unavoidable, irreversible losses are rising.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 Opportunity in focus — a subnational L&amp;D risk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/>
              <a:t>Tanzania has reproduced the regional INFORM Country Model in open code — proven identical to the official workbook (8,664/8,664 standardised cells; 170/170 district risks).</a:t>
            </a:r>
          </a:p>
          <a:p>
            <a:pPr>
              <a:spcAft>
                <a:spcPts val="500"/>
              </a:spcAft>
            </a:pPr>
            <a:r>
              <a:rPr sz="1500"/>
              <a:t>Because it is code, not a hidden-sheet workbook, the same model now runs at all 195 councils — the level at which L&amp;D actually occurs and recovery is planned.</a:t>
            </a:r>
          </a:p>
          <a:p>
            <a:pPr>
              <a:spcAft>
                <a:spcPts val="500"/>
              </a:spcAft>
            </a:pPr>
            <a:r>
              <a:rPr sz="1500"/>
              <a:t>Authentic local data feeds it bottom-up: each sector enters real values; the engine standardises them; risk aggregates from village → district → region → nation.</a:t>
            </a:r>
          </a:p>
          <a:p>
            <a:pPr>
              <a:spcAft>
                <a:spcPts val="500"/>
              </a:spcAft>
            </a:pPr>
            <a:r>
              <a:rPr sz="1500"/>
              <a:t>Earth Observation adds drought evidence (aridity, vegetation, soil moisture) — each layer validated against known geography before use; results that fail validation are discarded, not published.</a:t>
            </a:r>
          </a:p>
          <a:p>
            <a:pPr>
              <a:spcAft>
                <a:spcPts val="500"/>
              </a:spcAft>
            </a:pPr>
            <a:r>
              <a:rPr sz="1500"/>
              <a:t>This is the practical basis for measuring, reporting and financing L&amp;D at local level — and a method Tanzania can share across SADC member states.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0d91555-27bb-46d2-9299-bbdc28766cf5}" enabled="1" method="Privileged" siteId="{49d00196-dd46-45ae-a2e6-912969fa3a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Widescreen</PresentationFormat>
  <Paragraphs>28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1_Office Theme</vt:lpstr>
      <vt:lpstr>UNITED REPUBLIC OF TANZANIA</vt:lpstr>
      <vt:lpstr>1.0 Introduction</vt:lpstr>
      <vt:lpstr>2. National legislation/policy frameworks to address L&amp;D</vt:lpstr>
      <vt:lpstr> 3. National Coordination            Arrangements  for L&amp;D</vt:lpstr>
      <vt:lpstr>          4.Opportunities and Challenges </vt:lpstr>
      <vt:lpstr>          5.Conclusion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 Dlamini</dc:creator>
  <cp:lastModifiedBy>USER</cp:lastModifiedBy>
  <cp:revision>12</cp:revision>
  <dcterms:created xsi:type="dcterms:W3CDTF">2023-02-01T05:57:59Z</dcterms:created>
  <dcterms:modified xsi:type="dcterms:W3CDTF">2026-06-03T09:11:34Z</dcterms:modified>
</cp:coreProperties>
</file>