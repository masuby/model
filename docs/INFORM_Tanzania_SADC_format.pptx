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7" r:id="rId2"/>
    <p:sldId id="267" r:id="rId3"/>
    <p:sldId id="268" r:id="rId4"/>
    <p:sldId id="269" r:id="rId5"/>
    <p:sldId id="270" r:id="rId6"/>
    <p:sldId id="271" r:id="rId7"/>
    <p:sldId id="272" r:id="rId14"/>
    <p:sldId id="273" r:id="rId15"/>
    <p:sldId id="274" r:id="rId16"/>
    <p:sldId id="275" r:id="rId17"/>
    <p:sldId id="27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1" d="100"/>
          <a:sy n="81" d="100"/>
        </p:scale>
        <p:origin x="7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tus Ng'andu" userId="8706eca1-7b85-4a15-9100-6b97d21f17a3" providerId="ADAL" clId="{08A7C7B4-FA01-465B-9D4A-3DAFE47D79A6}"/>
    <pc:docChg chg="custSel addSld modSld">
      <pc:chgData name="Titus Ng'andu" userId="8706eca1-7b85-4a15-9100-6b97d21f17a3" providerId="ADAL" clId="{08A7C7B4-FA01-465B-9D4A-3DAFE47D79A6}" dt="2026-06-03T06:51:26.905" v="1083" actId="20577"/>
      <pc:docMkLst>
        <pc:docMk/>
      </pc:docMkLst>
      <pc:sldChg chg="modSp mod">
        <pc:chgData name="Titus Ng'andu" userId="8706eca1-7b85-4a15-9100-6b97d21f17a3" providerId="ADAL" clId="{08A7C7B4-FA01-465B-9D4A-3DAFE47D79A6}" dt="2026-06-02T11:29:08.491" v="13" actId="20577"/>
        <pc:sldMkLst>
          <pc:docMk/>
          <pc:sldMk cId="3581761718" sldId="257"/>
        </pc:sldMkLst>
        <pc:spChg chg="mod">
          <ac:chgData name="Titus Ng'andu" userId="8706eca1-7b85-4a15-9100-6b97d21f17a3" providerId="ADAL" clId="{08A7C7B4-FA01-465B-9D4A-3DAFE47D79A6}" dt="2026-06-02T11:29:08.491" v="13" actId="20577"/>
          <ac:spMkLst>
            <pc:docMk/>
            <pc:sldMk cId="3581761718" sldId="257"/>
            <ac:spMk id="7" creationId="{A3199D14-BB43-496A-810E-08FA8D1320D7}"/>
          </ac:spMkLst>
        </pc:spChg>
      </pc:sldChg>
      <pc:sldChg chg="modSp mod">
        <pc:chgData name="Titus Ng'andu" userId="8706eca1-7b85-4a15-9100-6b97d21f17a3" providerId="ADAL" clId="{08A7C7B4-FA01-465B-9D4A-3DAFE47D79A6}" dt="2026-06-02T17:16:07.223" v="930" actId="20577"/>
        <pc:sldMkLst>
          <pc:docMk/>
          <pc:sldMk cId="1961641587" sldId="267"/>
        </pc:sldMkLst>
        <pc:spChg chg="mod">
          <ac:chgData name="Titus Ng'andu" userId="8706eca1-7b85-4a15-9100-6b97d21f17a3" providerId="ADAL" clId="{08A7C7B4-FA01-465B-9D4A-3DAFE47D79A6}" dt="2026-06-02T11:29:30.512" v="29" actId="20577"/>
          <ac:spMkLst>
            <pc:docMk/>
            <pc:sldMk cId="1961641587" sldId="267"/>
            <ac:spMk id="2" creationId="{6D1B47A6-48FC-47FB-48B2-A9C0A50902B4}"/>
          </ac:spMkLst>
        </pc:spChg>
        <pc:spChg chg="mod">
          <ac:chgData name="Titus Ng'andu" userId="8706eca1-7b85-4a15-9100-6b97d21f17a3" providerId="ADAL" clId="{08A7C7B4-FA01-465B-9D4A-3DAFE47D79A6}" dt="2026-06-02T17:16:07.223" v="930" actId="20577"/>
          <ac:spMkLst>
            <pc:docMk/>
            <pc:sldMk cId="1961641587" sldId="267"/>
            <ac:spMk id="3" creationId="{CD43A050-EF43-BFDB-1B99-0328CCC2754D}"/>
          </ac:spMkLst>
        </pc:spChg>
      </pc:sldChg>
      <pc:sldChg chg="modSp mod">
        <pc:chgData name="Titus Ng'andu" userId="8706eca1-7b85-4a15-9100-6b97d21f17a3" providerId="ADAL" clId="{08A7C7B4-FA01-465B-9D4A-3DAFE47D79A6}" dt="2026-06-02T17:06:47.897" v="614" actId="6549"/>
        <pc:sldMkLst>
          <pc:docMk/>
          <pc:sldMk cId="2515149256" sldId="268"/>
        </pc:sldMkLst>
        <pc:spChg chg="mod">
          <ac:chgData name="Titus Ng'andu" userId="8706eca1-7b85-4a15-9100-6b97d21f17a3" providerId="ADAL" clId="{08A7C7B4-FA01-465B-9D4A-3DAFE47D79A6}" dt="2026-06-02T11:30:59.012" v="137" actId="6549"/>
          <ac:spMkLst>
            <pc:docMk/>
            <pc:sldMk cId="2515149256" sldId="268"/>
            <ac:spMk id="2" creationId="{BD9EA430-DFFB-F6D1-E675-A0F52D660B51}"/>
          </ac:spMkLst>
        </pc:spChg>
        <pc:spChg chg="mod">
          <ac:chgData name="Titus Ng'andu" userId="8706eca1-7b85-4a15-9100-6b97d21f17a3" providerId="ADAL" clId="{08A7C7B4-FA01-465B-9D4A-3DAFE47D79A6}" dt="2026-06-02T17:06:47.897" v="614" actId="6549"/>
          <ac:spMkLst>
            <pc:docMk/>
            <pc:sldMk cId="2515149256" sldId="268"/>
            <ac:spMk id="3" creationId="{E7EB5784-6001-EEE3-4930-576448C45B94}"/>
          </ac:spMkLst>
        </pc:spChg>
      </pc:sldChg>
      <pc:sldChg chg="modSp mod">
        <pc:chgData name="Titus Ng'andu" userId="8706eca1-7b85-4a15-9100-6b97d21f17a3" providerId="ADAL" clId="{08A7C7B4-FA01-465B-9D4A-3DAFE47D79A6}" dt="2026-06-03T06:51:26.905" v="1083" actId="20577"/>
        <pc:sldMkLst>
          <pc:docMk/>
          <pc:sldMk cId="583006665" sldId="269"/>
        </pc:sldMkLst>
        <pc:spChg chg="mod">
          <ac:chgData name="Titus Ng'andu" userId="8706eca1-7b85-4a15-9100-6b97d21f17a3" providerId="ADAL" clId="{08A7C7B4-FA01-465B-9D4A-3DAFE47D79A6}" dt="2026-06-02T17:01:25.783" v="376" actId="20577"/>
          <ac:spMkLst>
            <pc:docMk/>
            <pc:sldMk cId="583006665" sldId="269"/>
            <ac:spMk id="2" creationId="{DFA953E7-C018-C88C-156B-C1FD0B2D236F}"/>
          </ac:spMkLst>
        </pc:spChg>
        <pc:spChg chg="mod">
          <ac:chgData name="Titus Ng'andu" userId="8706eca1-7b85-4a15-9100-6b97d21f17a3" providerId="ADAL" clId="{08A7C7B4-FA01-465B-9D4A-3DAFE47D79A6}" dt="2026-06-03T06:51:26.905" v="1083" actId="20577"/>
          <ac:spMkLst>
            <pc:docMk/>
            <pc:sldMk cId="583006665" sldId="269"/>
            <ac:spMk id="3" creationId="{3527CB85-1D6C-05F0-901F-E2A97115AE9B}"/>
          </ac:spMkLst>
        </pc:spChg>
      </pc:sldChg>
      <pc:sldChg chg="modSp add mod">
        <pc:chgData name="Titus Ng'andu" userId="8706eca1-7b85-4a15-9100-6b97d21f17a3" providerId="ADAL" clId="{08A7C7B4-FA01-465B-9D4A-3DAFE47D79A6}" dt="2026-06-02T17:01:43.848" v="386" actId="6549"/>
        <pc:sldMkLst>
          <pc:docMk/>
          <pc:sldMk cId="1097164009" sldId="270"/>
        </pc:sldMkLst>
        <pc:spChg chg="mod">
          <ac:chgData name="Titus Ng'andu" userId="8706eca1-7b85-4a15-9100-6b97d21f17a3" providerId="ADAL" clId="{08A7C7B4-FA01-465B-9D4A-3DAFE47D79A6}" dt="2026-06-02T11:32:21.289" v="249" actId="20577"/>
          <ac:spMkLst>
            <pc:docMk/>
            <pc:sldMk cId="1097164009" sldId="270"/>
            <ac:spMk id="2" creationId="{B725D9B5-5550-D9FF-A314-CFE0DDBDDCCB}"/>
          </ac:spMkLst>
        </pc:spChg>
        <pc:spChg chg="mod">
          <ac:chgData name="Titus Ng'andu" userId="8706eca1-7b85-4a15-9100-6b97d21f17a3" providerId="ADAL" clId="{08A7C7B4-FA01-465B-9D4A-3DAFE47D79A6}" dt="2026-06-02T17:01:43.848" v="386" actId="6549"/>
          <ac:spMkLst>
            <pc:docMk/>
            <pc:sldMk cId="1097164009" sldId="270"/>
            <ac:spMk id="3" creationId="{41488CC1-0B0F-10B5-F8DE-2C6B058BAA38}"/>
          </ac:spMkLst>
        </pc:spChg>
      </pc:sldChg>
      <pc:sldChg chg="modSp add mod">
        <pc:chgData name="Titus Ng'andu" userId="8706eca1-7b85-4a15-9100-6b97d21f17a3" providerId="ADAL" clId="{08A7C7B4-FA01-465B-9D4A-3DAFE47D79A6}" dt="2026-06-02T17:18:32.341" v="971" actId="20577"/>
        <pc:sldMkLst>
          <pc:docMk/>
          <pc:sldMk cId="2312414735" sldId="271"/>
        </pc:sldMkLst>
        <pc:spChg chg="mod">
          <ac:chgData name="Titus Ng'andu" userId="8706eca1-7b85-4a15-9100-6b97d21f17a3" providerId="ADAL" clId="{08A7C7B4-FA01-465B-9D4A-3DAFE47D79A6}" dt="2026-06-02T17:18:32.341" v="971" actId="20577"/>
          <ac:spMkLst>
            <pc:docMk/>
            <pc:sldMk cId="2312414735" sldId="271"/>
            <ac:spMk id="2" creationId="{5716A53D-57CD-AD8D-94DB-A7A533BD7B17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DD5E13-E556-4FA3-822D-4B2527FDEB0A}" type="datetimeFigureOut">
              <a:rPr lang="en-ZA" smtClean="0"/>
              <a:t>2026/06/03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11F8CE-1DDF-4B80-8D9A-71D407265CE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10119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C3433D-E9AA-4D7B-A09C-4EAF2242FD4B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244269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2973E-3E40-47A8-A6B1-FCC66E8FCC3F}" type="datetimeFigureOut">
              <a:rPr lang="en-ZA" smtClean="0"/>
              <a:t>2026/06/03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D65BC-BA2B-4C48-A7C6-D484A989C42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026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2973E-3E40-47A8-A6B1-FCC66E8FCC3F}" type="datetimeFigureOut">
              <a:rPr lang="en-ZA" smtClean="0"/>
              <a:t>2026/06/03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D65BC-BA2B-4C48-A7C6-D484A989C42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29198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2973E-3E40-47A8-A6B1-FCC66E8FCC3F}" type="datetimeFigureOut">
              <a:rPr lang="en-ZA" smtClean="0"/>
              <a:t>2026/06/03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D65BC-BA2B-4C48-A7C6-D484A989C42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64069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2973E-3E40-47A8-A6B1-FCC66E8FCC3F}" type="datetimeFigureOut">
              <a:rPr lang="en-ZA" smtClean="0"/>
              <a:t>2026/06/03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D65BC-BA2B-4C48-A7C6-D484A989C42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67249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2973E-3E40-47A8-A6B1-FCC66E8FCC3F}" type="datetimeFigureOut">
              <a:rPr lang="en-ZA" smtClean="0"/>
              <a:t>2026/06/03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D65BC-BA2B-4C48-A7C6-D484A989C42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21131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2973E-3E40-47A8-A6B1-FCC66E8FCC3F}" type="datetimeFigureOut">
              <a:rPr lang="en-ZA" smtClean="0"/>
              <a:t>2026/06/03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D65BC-BA2B-4C48-A7C6-D484A989C42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7180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2973E-3E40-47A8-A6B1-FCC66E8FCC3F}" type="datetimeFigureOut">
              <a:rPr lang="en-ZA" smtClean="0"/>
              <a:t>2026/06/03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D65BC-BA2B-4C48-A7C6-D484A989C42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55537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2973E-3E40-47A8-A6B1-FCC66E8FCC3F}" type="datetimeFigureOut">
              <a:rPr lang="en-ZA" smtClean="0"/>
              <a:t>2026/06/03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D65BC-BA2B-4C48-A7C6-D484A989C42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16601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2973E-3E40-47A8-A6B1-FCC66E8FCC3F}" type="datetimeFigureOut">
              <a:rPr lang="en-ZA" smtClean="0"/>
              <a:t>2026/06/03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D65BC-BA2B-4C48-A7C6-D484A989C42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94790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2973E-3E40-47A8-A6B1-FCC66E8FCC3F}" type="datetimeFigureOut">
              <a:rPr lang="en-ZA" smtClean="0"/>
              <a:t>2026/06/03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D65BC-BA2B-4C48-A7C6-D484A989C42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4415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2973E-3E40-47A8-A6B1-FCC66E8FCC3F}" type="datetimeFigureOut">
              <a:rPr lang="en-ZA" smtClean="0"/>
              <a:t>2026/06/03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D65BC-BA2B-4C48-A7C6-D484A989C42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900251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A2973E-3E40-47A8-A6B1-FCC66E8FCC3F}" type="datetimeFigureOut">
              <a:rPr lang="en-ZA" smtClean="0"/>
              <a:t>2026/06/03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DD65BC-BA2B-4C48-A7C6-D484A989C42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44615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1395" y="3395883"/>
            <a:ext cx="6862710" cy="49660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ZA" b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A2D3B14-8A94-45A2-AC62-F3F6C020B75F}"/>
              </a:ext>
            </a:extLst>
          </p:cNvPr>
          <p:cNvSpPr txBox="1">
            <a:spLocks/>
          </p:cNvSpPr>
          <p:nvPr/>
        </p:nvSpPr>
        <p:spPr>
          <a:xfrm>
            <a:off x="2140783" y="2511906"/>
            <a:ext cx="7610168" cy="16313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099105" y="4388924"/>
            <a:ext cx="5969888" cy="7356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ZA" sz="20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ZA" sz="28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3199D14-BB43-496A-810E-08FA8D132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750" y="826304"/>
            <a:ext cx="9791700" cy="1325563"/>
          </a:xfrm>
        </p:spPr>
        <p:txBody>
          <a:bodyPr>
            <a:noAutofit/>
          </a:bodyPr>
          <a:lstStyle/>
          <a:p>
            <a:r>
              <a:t>UNITED REPUBLIC OF TANZANIA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C2D0A7F-723C-46FE-81BD-7A379190C466}"/>
              </a:ext>
            </a:extLst>
          </p:cNvPr>
          <p:cNvSpPr txBox="1">
            <a:spLocks/>
          </p:cNvSpPr>
          <p:nvPr/>
        </p:nvSpPr>
        <p:spPr>
          <a:xfrm>
            <a:off x="4373125" y="5486141"/>
            <a:ext cx="4470400" cy="5965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4709160"/>
            <a:ext cx="10698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02A43"/>
                </a:solidFill>
              </a:rPr>
              <a:t>INFORM Subnational Disaster Risk</a:t>
            </a:r>
          </a:p>
          <a:p>
            <a:r>
              <a:rPr sz="1300" b="0">
                <a:solidFill>
                  <a:srgbClr val="102A43"/>
                </a:solidFill>
              </a:rPr>
              <a:t>The Country Model Template: how risk is calculated, the bottleneck, and scaling it to local level</a:t>
            </a:r>
          </a:p>
          <a:p>
            <a:r>
              <a:rPr sz="1200" b="0">
                <a:solidFill>
                  <a:srgbClr val="102A43"/>
                </a:solidFill>
              </a:rPr>
              <a:t>Prime Minister's Office, Disaster Management Department (PMO-DMD)</a:t>
            </a:r>
          </a:p>
        </p:txBody>
      </p:sp>
    </p:spTree>
    <p:extLst>
      <p:ext uri="{BB962C8B-B14F-4D97-AF65-F5344CB8AC3E}">
        <p14:creationId xmlns:p14="http://schemas.microsoft.com/office/powerpoint/2010/main" val="3581761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B47A6-48FC-47FB-48B2-A9C0A5090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5200" y="365127"/>
            <a:ext cx="9118600" cy="1325563"/>
          </a:xfrm>
        </p:spPr>
        <p:txBody>
          <a:bodyPr/>
          <a:lstStyle/>
          <a:p>
            <a:r>
              <a:t>INFORM: how the Country Model Template is built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3A050-EF43-BFDB-1B99-0328CCC27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6640" y="1825625"/>
            <a:ext cx="9027160" cy="4351338"/>
          </a:xfrm>
        </p:spPr>
        <p:txBody>
          <a:bodyPr wrap="square"/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02A43"/>
                </a:solidFill>
              </a:rPr>
              <a:t>INFORM is an open composite index of disaster risk: one 0–10 score per area (0 = lowest, 10 = highest). Tanzania runs the regional INFORM Country Model Template (Excel, 2024 release) at 170 district-level units. INFORM publishes no national figure for a subnational model; the INFORM aggregate of all 195 councils on the workbook data is 3.8 (Hazard &amp; Exposure 2.4, Vulnerability 3.8, Lack of Coping 6.2).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102A43"/>
                </a:solidFill>
              </a:rPr>
              <a:t>Risk is built from three dimensions: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444C57"/>
                </a:solidFill>
              </a:rPr>
              <a:t>Hazard &amp; Exposure: drought, flood, earthquake, cyclone, conflict … and who/what is exposed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444C57"/>
                </a:solidFill>
              </a:rPr>
              <a:t>Vulnerability: poverty, health, nutrition, food insecurity, displacement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444C57"/>
                </a:solidFill>
              </a:rPr>
              <a:t>Lack of Coping Capacity: institutions &amp; infrastructure (DRR, governance, WASH, health, education)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1E6F3D"/>
                </a:solidFill>
              </a:rPr>
              <a:t>Structure: 78 raw indicators (53 used) → 6 categories → 3 dimensions → 1 risk score, for every unit.</a:t>
            </a:r>
          </a:p>
        </p:txBody>
      </p:sp>
    </p:spTree>
    <p:extLst>
      <p:ext uri="{BB962C8B-B14F-4D97-AF65-F5344CB8AC3E}">
        <p14:creationId xmlns:p14="http://schemas.microsoft.com/office/powerpoint/2010/main" val="1961641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EA430-DFFB-F6D1-E675-A0F52D660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365127"/>
            <a:ext cx="8976360" cy="1325563"/>
          </a:xfrm>
        </p:spPr>
        <p:txBody>
          <a:bodyPr/>
          <a:lstStyle/>
          <a:p>
            <a:r>
              <a:t>How an indicator becomes a 0–10 score (the hidden-sheet method)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B5784-6001-EEE3-4930-576448C45B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7440" y="1825625"/>
            <a:ext cx="8976360" cy="4351338"/>
          </a:xfrm>
        </p:spPr>
        <p:txBody>
          <a:bodyPr wrap="square"/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02A43"/>
                </a:solidFill>
              </a:rPr>
              <a:t>1.  Actual value, in its natural unit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02A43"/>
                </a:solidFill>
              </a:rPr>
              <a:t>2.  Denominator: ÷ population / area / GDP, or none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02A43"/>
                </a:solidFill>
              </a:rPr>
              <a:t>3.  Outlier cap: Tukey IQR fence:  MAX( MIN(x, Q3 + 1.5·IQR) , Q1 − 1.5·IQR )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02A43"/>
                </a:solidFill>
              </a:rPr>
              <a:t>4.  Transform: None | Logarithm LN(0.001 + x) | Exponential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02A43"/>
                </a:solidFill>
              </a:rPr>
              <a:t>5.  Min–max scaling: 10 × (x − Min) / (Max − Min)  against a fixed reference range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02A43"/>
                </a:solidFill>
              </a:rPr>
              <a:t>6.  Direction: if protective (higher = better): 10 − score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1E6F3D"/>
                </a:solidFill>
              </a:rPr>
              <a:t>7.  Clamp to [0,10] → ROUND to 1 decimal → the 0–10 indicator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444C57"/>
                </a:solidFill>
              </a:rPr>
              <a:t>Every indicator, whatever its unit, passes through the same chain: Tukey outliers, log/exp transform, min–max, direction.</a:t>
            </a:r>
          </a:p>
        </p:txBody>
      </p:sp>
    </p:spTree>
    <p:extLst>
      <p:ext uri="{BB962C8B-B14F-4D97-AF65-F5344CB8AC3E}">
        <p14:creationId xmlns:p14="http://schemas.microsoft.com/office/powerpoint/2010/main" val="2515149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953E7-C018-C88C-156B-C1FD0B2D2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7374" y="365127"/>
            <a:ext cx="9076426" cy="1325563"/>
          </a:xfrm>
        </p:spPr>
        <p:txBody>
          <a:bodyPr>
            <a:normAutofit/>
          </a:bodyPr>
          <a:lstStyle/>
          <a:p>
            <a:r>
              <a:t>A few indicators: many units (why standardisation is needed)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7CB85-1D6C-05F0-901F-E2A97115A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37360"/>
          <a:ext cx="10881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0"/>
                <a:gridCol w="3474720"/>
                <a:gridCol w="265176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Indicator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Unit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Dimension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Food security: insufficient food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% of population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Vulnerability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Historic drought frequency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years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Hazard &amp; Exposure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Internally displaced people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count (people)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Vulnerability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Gross National Income per capita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US$ (thousands, log)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Coping Capacity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Health expenditure per capita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US$ per capita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Coping Capacity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Physicians density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per 10,000 population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Coping Capacity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Measles incidence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per 1,000,000 population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Vulnerability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Soil erosion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Mg / ha / 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Hazard &amp; Exposure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Coastal erosion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metres / year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02A43"/>
                          </a:solidFill>
                        </a:rPr>
                        <a:t>Hazard &amp; Exposure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53212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6F3D"/>
                </a:solidFill>
              </a:rPr>
              <a:t>%, years, counts, US$, per-1,000, per-10,000, Mg/ha/yr, m/yr: all reconciled onto one 0–10 scale.</a:t>
            </a:r>
          </a:p>
        </p:txBody>
      </p:sp>
    </p:spTree>
    <p:extLst>
      <p:ext uri="{BB962C8B-B14F-4D97-AF65-F5344CB8AC3E}">
        <p14:creationId xmlns:p14="http://schemas.microsoft.com/office/powerpoint/2010/main" val="583006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8F5D0-B924-4B59-AB3E-CDEDA0726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5D9B5-5550-D9FF-A314-CFE0DDBDD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indicators to risk: categorisation &amp; aggregation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88CC1-0B0F-10B5-F8DE-2C6B058BA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500"/>
              </a:spcAft>
            </a:pPr>
            <a:r>
              <a:rPr sz="1700" b="1">
                <a:solidFill>
                  <a:srgbClr val="102A43"/>
                </a:solidFill>
              </a:rPr>
              <a:t>Component  =  AVERAGE of its indicators where Use = "Yes"   (Excel AVERAGEIFS)</a:t>
            </a:r>
            <a:endParaRPr lang="en-US" dirty="0"/>
          </a:p>
          <a:p>
            <a:pPr>
              <a:spcAft>
                <a:spcPts val="500"/>
              </a:spcAft>
            </a:pPr>
            <a:r>
              <a:rPr sz="1700" b="1">
                <a:solidFill>
                  <a:srgbClr val="102A43"/>
                </a:solidFill>
              </a:rPr>
              <a:t>Category   =  AVERAGE of its components   (arithmetic mean)</a:t>
            </a:r>
          </a:p>
          <a:p>
            <a:pPr>
              <a:spcAft>
                <a:spcPts val="500"/>
              </a:spcAft>
            </a:pPr>
            <a:r>
              <a:rPr sz="1700" b="1">
                <a:solidFill>
                  <a:srgbClr val="102A43"/>
                </a:solidFill>
              </a:rPr>
              <a:t>Dimension  =  scaled GEOMEAN of its categories</a:t>
            </a:r>
          </a:p>
          <a:p>
            <a:pPr>
              <a:spcAft>
                <a:spcPts val="500"/>
              </a:spcAft>
            </a:pPr>
            <a:r>
              <a:rPr sz="1700" b="1">
                <a:solidFill>
                  <a:srgbClr val="1E6F3D"/>
                </a:solidFill>
              </a:rPr>
              <a:t>Risk  =  ∛ ( H × V × LCC )  : cube-root of the three dimensions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444C57"/>
                </a:solidFill>
              </a:rPr>
              <a:t>ROUND( H^(1/3) × V^(1/3) × LCC^(1/3) , 1 )</a:t>
            </a:r>
          </a:p>
          <a:p>
            <a:pPr>
              <a:spcAft>
                <a:spcPts val="500"/>
              </a:spcAft>
            </a:pPr>
            <a:r>
              <a:rPr sz="1700" b="0">
                <a:solidFill>
                  <a:srgbClr val="102A43"/>
                </a:solidFill>
              </a:rPr>
              <a:t>The geometric mean matters: a unit cannot "average away" one very weak dimension: high hazard with low coping capacity still yields high risk.</a:t>
            </a:r>
          </a:p>
        </p:txBody>
      </p:sp>
    </p:spTree>
    <p:extLst>
      <p:ext uri="{BB962C8B-B14F-4D97-AF65-F5344CB8AC3E}">
        <p14:creationId xmlns:p14="http://schemas.microsoft.com/office/powerpoint/2010/main" val="1097164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C793F-E04B-1ED3-678A-C9141CB02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6A53D-57CD-AD8D-94DB-A7A533BD7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honest problem: it all lives in deeply hidden Excel sheets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C53A8-83A9-D560-D5B5-7C9E1BA32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500"/>
              </a:spcAft>
            </a:pPr>
            <a:r>
              <a:rPr sz="1400" b="1">
                <a:solidFill>
                  <a:srgbClr val="B42318"/>
                </a:solidFill>
              </a:rPr>
              <a:t>Every reference range, outlier fence, transform and aggregation step is buried in hidden worksheets.</a:t>
            </a:r>
            <a:endParaRPr lang="en-US" dirty="0"/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02A43"/>
                </a:solidFill>
              </a:rPr>
              <a:t>Opaque: the math is invisible to the people who must use and trust the numbers.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02A43"/>
                </a:solidFill>
              </a:rPr>
              <a:t>Fixed unit set: built for ~170 districts; it cannot scale to 195 councils, wards or villages.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02A43"/>
                </a:solidFill>
              </a:rPr>
              <a:t>Manual &amp; single-file: one workbook, no version control, easy to break, hard to audit.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02A43"/>
                </a:solidFill>
              </a:rPr>
              <a:t>Closed to local data: no clean way to add a local indicator or feed council-level values.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02A43"/>
                </a:solidFill>
              </a:rPr>
              <a:t>No automation: no live update, no link to early warning or anticipatory action.</a:t>
            </a:r>
          </a:p>
          <a:p>
            <a:pPr>
              <a:spcAft>
                <a:spcPts val="500"/>
              </a:spcAft>
            </a:pPr>
            <a:r>
              <a:rPr sz="1400" b="1">
                <a:solidFill>
                  <a:srgbClr val="B42318"/>
                </a:solidFill>
              </a:rPr>
              <a:t>Result: the model stops at its 170 district-level units of 2024. Council, ward and village risk, where decisions are made, is out of reach.</a:t>
            </a:r>
          </a:p>
        </p:txBody>
      </p:sp>
    </p:spTree>
    <p:extLst>
      <p:ext uri="{BB962C8B-B14F-4D97-AF65-F5344CB8AC3E}">
        <p14:creationId xmlns:p14="http://schemas.microsoft.com/office/powerpoint/2010/main" val="231241473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rebuilt the hidden sheets as an engine: proven identical, built to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02A43"/>
                </a:solidFill>
              </a:rPr>
              <a:t>The hidden-sheet formulas were reverse-engineered and reproduced exactly in open code.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1E6F3D"/>
                </a:solidFill>
              </a:rPr>
              <a:t>Proven byte-for-byte against the official workbook: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E6F3D"/>
                </a:solidFill>
              </a:rPr>
              <a:t>8,664 / 8,664 standardised indicator cells reproduce the template exactly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E6F3D"/>
                </a:solidFill>
              </a:rPr>
              <a:t>170 / 170 district risk scores reproduce the template exactly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02A43"/>
                </a:solidFill>
              </a:rPr>
              <a:t>Now it scales: the same engine runs unchanged on 195 councils and 31 regions.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02A43"/>
                </a:solidFill>
              </a:rPr>
              <a:t>Spec-driven &amp; transparent: add, delete or amend an indicator without touching the math; fully testable.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102A43"/>
                </a:solidFill>
              </a:rPr>
              <a:t>The regional INFORM core is never altered: it is reproduced exactly; everything new is additive.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Capturing real local data: the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500"/>
              </a:spcAft>
            </a:pPr>
            <a:r>
              <a:rPr sz="1600" b="0">
                <a:solidFill>
                  <a:srgbClr val="102A43"/>
                </a:solidFill>
              </a:rPr>
              <a:t>Federated collection tools: one shared Excel per sector; they enter ACTUAL values in natural units and a locked formula shows the 0–10 live.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102A43"/>
                </a:solidFill>
              </a:rPr>
              <a:t>One accountable stakeholder per indicator: TMA (climate), GST (geology), NEMC (environment), MoH (health), NBS (statistics), MoA/MUCHALI (food), MoW (water), PMO-DMD (DRR).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102A43"/>
                </a:solidFill>
              </a:rPr>
              <a:t>Bottom-up aggregation: village → district → region → country; finer, well-filled data refines the higher level.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102A43"/>
                </a:solidFill>
              </a:rPr>
              <a:t>Authentic sources: NBS 2022 Census, TMA CHIRPS/ERA5, GST seismic, MoH TDHS, IPC/MUCHALI, TASAF, and satellite Earth Observation (validated before use).</a:t>
            </a: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1E6F3D"/>
                </a:solidFill>
              </a:rPr>
              <a:t>The regional INFORM core is never altered. Institutional values enter by the INFORM method with a citable source; every other Tanzanian addition is shown in a separate Advancement layer.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gap: what still has to be solved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B42318"/>
                </a:solidFill>
              </a:rPr>
              <a:t>Subnational risk is not yet operational: decisions happen at council / ward level, but the regional INFORM model stops at 170 district-level units.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02A43"/>
                </a:solidFill>
              </a:rPr>
              <a:t>Local data is scattered and uneven: many key indicators exist only at region or national level.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02A43"/>
                </a:solidFill>
              </a:rPr>
              <a:t>No sustainable pipeline: capturing, validating and updating local data is still manual.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02A43"/>
                </a:solidFill>
              </a:rPr>
              <a:t>Earth-Observation indicators (vegetation, soil moisture, flood, landslide) need proper computation, downscaling and validation.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02A43"/>
                </a:solidFill>
              </a:rPr>
              <a:t>No live link to action: risk is not yet wired to the emergency operations centre, early warning, or local planning &amp; budgeting.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02A43"/>
                </a:solidFill>
              </a:rPr>
              <a:t>Capacity &amp; financing gaps at local-government level: tools, training and incentives to keep the data flowing.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Opportunities: research &amp; financial support for member-state adoption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E6F3D"/>
                </a:solidFill>
              </a:rPr>
              <a:t>RESEARCH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02A43"/>
                </a:solidFill>
              </a:rPr>
              <a:t>Earth-Observation computation &amp; statistical downscaling to council / ward level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02A43"/>
                </a:solidFill>
              </a:rPr>
              <a:t>Validation against ground events; multi-source "exploded" indicators; climate-seasonality into early warning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1E6F3D"/>
                </a:solidFill>
              </a:rPr>
              <a:t>FINANCIAL SUPPORT &amp; ADOPTION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02A43"/>
                </a:solidFill>
              </a:rPr>
              <a:t>Fund the local-data integration and the federated tools; build local-government capacity to capture &amp; submit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02A43"/>
                </a:solidFill>
              </a:rPr>
              <a:t>Scale the transparent engine across SADC member states; integrate risk into EOCC, anticipatory action &amp; local planning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1E6F3D"/>
                </a:solidFill>
              </a:rPr>
              <a:t>Tanzania as the subnational-INFORM pilot: a shared, open method and data standard for the region.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500"/>
              </a:spcAft>
            </a:pPr>
            <a:r>
              <a:rPr sz="1600" b="0">
                <a:solidFill>
                  <a:srgbClr val="102A43"/>
                </a:solidFill>
              </a:rPr>
              <a:t>The Country Model Template math is fully understood and reproduced exactly: 8,664/8,664 cells, 170/170 risks.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102A43"/>
                </a:solidFill>
              </a:rPr>
              <a:t>It now runs at council level (195) because it is open code, not a hidden-sheet workbook.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102A43"/>
                </a:solidFill>
              </a:rPr>
              <a:t>Earth-observation layers are shown apart from the Core as a labelled Advancement layer (12 of 25 sub-indicators filled); a composite drought index and a Sentinel-1 flood layer were withdrawn when validation failed.</a:t>
            </a: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1E6F3D"/>
                </a:solidFill>
              </a:rPr>
              <a:t>Ask: research partnership + financing to integrate local data and support member-state adoption and local-level integration.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70d91555-27bb-46d2-9299-bbdc28766cf5}" enabled="1" method="Privileged" siteId="{49d00196-dd46-45ae-a2e6-912969fa3ac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</Words>
  <Application>Microsoft Office PowerPoint</Application>
  <PresentationFormat>Widescreen</PresentationFormat>
  <Paragraphs>28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1_Office Theme</vt:lpstr>
      <vt:lpstr>UNITED REPUBLIC OF TANZANIA</vt:lpstr>
      <vt:lpstr>1.0 Introduction</vt:lpstr>
      <vt:lpstr>2. National legislation/policy frameworks to address L&amp;D</vt:lpstr>
      <vt:lpstr> 3. National Coordination            Arrangements  for L&amp;D</vt:lpstr>
      <vt:lpstr>          4.Opportunities and Challenges </vt:lpstr>
      <vt:lpstr>          5.Conclusion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Nana Dlamini</dc:creator>
  <cp:lastModifiedBy>USER</cp:lastModifiedBy>
  <cp:revision>12</cp:revision>
  <dcterms:created xsi:type="dcterms:W3CDTF">2023-02-01T05:57:59Z</dcterms:created>
  <dcterms:modified xsi:type="dcterms:W3CDTF">2026-06-03T09:11:34Z</dcterms:modified>
</cp:coreProperties>
</file>