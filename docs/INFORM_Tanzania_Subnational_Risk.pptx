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E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Calibri"/>
              </a:rPr>
              <a:t>INFORM TANZANIA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Subnational Disaster Risk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From a hidden-sheet Excel template to a scalable, local-data 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Prime Minister's Office – Disaster Management Department (PMO-DMD)</a:t>
            </a:r>
          </a:p>
          <a:p>
            <a:pPr algn="l"/>
            <a:r>
              <a:rPr sz="1400" b="0">
                <a:solidFill>
                  <a:srgbClr val="D8E6DC"/>
                </a:solidFill>
                <a:latin typeface="Calibri"/>
              </a:rPr>
              <a:t>Reproducing the regional INFORM model exactly — and scaling it to all 195 councils</a:t>
            </a:r>
          </a:p>
          <a:p>
            <a:pPr algn="l"/>
            <a:r>
              <a:rPr sz="1300" b="0">
                <a:solidFill>
                  <a:srgbClr val="D8E6DC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BACKGROUND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INFORM?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02A43"/>
                </a:solidFill>
                <a:latin typeface="Calibri"/>
              </a:rPr>
              <a:t>■  INFORM is a global, open composite index of disaster risk — a single 0–10 score per area (0 = lowest risk, 10 = highest).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02A43"/>
                </a:solidFill>
                <a:latin typeface="Calibri"/>
              </a:rPr>
              <a:t>■  Tanzania runs the regional INFORM Model Template (the SADC / IGAD subnational adaptation). The official national INFORM risk is 4.1.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Calibri"/>
              </a:rPr>
              <a:t>■  Risk is built from three dimensions — the INFORM logic: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      –  Hazard &amp; Exposure — the threats (drought, flood, earthquake, conflict…) and who/what is exposed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      –  Vulnerability — susceptibility of people (poverty, health, food insecurity, displacement)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      –  Lack of Coping Capacity — weakness of institutions &amp; infrastructure to respond (WASH, health, DRR, governance)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E6F3D"/>
                </a:solidFill>
                <a:latin typeface="Calibri"/>
              </a:rPr>
              <a:t>■  Each dimension is built from indicators → categories → dimension → the final risk index.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THE MODEL TEMPLATE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Structure: 78 indicators → 6 categories → 3 dimensions → 1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640080"/>
          </a:xfrm>
          <a:prstGeom prst="rect">
            <a:avLst/>
          </a:prstGeom>
          <a:solidFill>
            <a:srgbClr val="1E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007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HAZARD &amp; EXPOSURE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56616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E6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Natural (drought, flood, earthquake,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landslide, cyclone, coastal, wildfire…)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Human (conflict, violence)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566160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7007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VULNERABILITY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286000"/>
            <a:ext cx="356616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4231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Socio-economic (poverty, GDP,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aid dependency, habitat)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Vulnerable groups (health, nutrition,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food security, displaced people)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645920"/>
            <a:ext cx="3566160" cy="6400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70078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LACK OF COPING 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56616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4231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Institutional (DRR, governance)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Infrastructure (WASH, health access,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02A43"/>
                </a:solidFill>
                <a:latin typeface="Calibri"/>
              </a:rPr>
              <a:t>communication, education)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6F3D"/>
                </a:solidFill>
                <a:latin typeface="Calibri"/>
              </a:rPr>
              <a:t>78 raw indicators (53 currently used for Tanzania) → aggregated to 6 categories → 3 dimensions → one INFORM risk score, for every administrative unit.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HOW THE TEMPLATE WORKS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an actual value to a 0–10 score — the standardisation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93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1.  Actual value (natural unit)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12848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2.  Denominator (÷ population / area / GDP, or none)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71216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3.  Outlier cap — Tukey IQR fence  MAX(MIN(x, Q3+1.5·IQR), Q1−1.5·IQR)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9584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844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4.  Transform — None | Logarithm LN(0.001+x) | Exponential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87952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428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5.  Min–max scaling — 10 × (x − Min) / (Max − Min)  vs a fixed 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011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43"/>
                </a:solidFill>
                <a:latin typeface="Calibri"/>
              </a:rPr>
              <a:t>6.  Direction — if protective: 10 − score (higher = better)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04688"/>
            <a:ext cx="10881360" cy="548640"/>
          </a:xfrm>
          <a:prstGeom prst="rect">
            <a:avLst/>
          </a:prstGeom>
          <a:solidFill>
            <a:srgbClr val="E6F2E9"/>
          </a:solidFill>
          <a:ln w="12700">
            <a:solidFill>
              <a:srgbClr val="1E6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595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6F3D"/>
                </a:solidFill>
                <a:latin typeface="Calibri"/>
              </a:rPr>
              <a:t>7.  Clamp [0,10] → ROUND to 1 dp →  the 0–10 indicator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813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F6B"/>
                </a:solidFill>
                <a:latin typeface="Consolas"/>
              </a:rPr>
              <a:t>Excel:  =IF(val="","",IFERROR(MAX(0,MIN(10,ROUND(IF(sign="Decrease",10-base,base),1))),"No data"))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CAPTURING DIVERSITY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few indicators — many different units (why standardisation is needed)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657600"/>
                <a:gridCol w="2560320"/>
              </a:tblGrid>
              <a:tr h="44805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Food security – insufficient food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% of population (Phase 2+)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Historic drought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Internally displaced people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count (number of people)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Gross National Income per capita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US$ (thousands, 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Health expenditure per capita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US$ per capita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Physicians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per 10,000 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Measles incidence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per 1,000,000 population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Soil erosion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Mg / ha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Coastal erosion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metres / year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6F3D"/>
                </a:solidFill>
                <a:latin typeface="Calibri"/>
              </a:rPr>
              <a:t>%, years, counts, US$, per-1,000, per-10,000, ratios, Mg/ha/yr, m/yr — all reconciled onto one 0–10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CATEGORISATION &amp; AGGREGATION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standardised indicators to the INFORM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02A43"/>
                </a:solidFill>
                <a:latin typeface="Calibri"/>
              </a:rPr>
              <a:t>■  Component  =  AVERAGE of its indicators where Use = "Yes"   (Excel AVERAGEIFS)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02A43"/>
                </a:solidFill>
                <a:latin typeface="Calibri"/>
              </a:rPr>
              <a:t>■  Category   =  AVERAGE of its components   (arithmetic mean)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02A43"/>
                </a:solidFill>
                <a:latin typeface="Calibri"/>
              </a:rPr>
              <a:t>■  Dimension  =  scaled GEOMEAN of its categories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55F6B"/>
                </a:solidFill>
                <a:latin typeface="Calibri"/>
              </a:rPr>
              <a:t>      –  ROUND( (10 − GEOMEAN((10−c)/10×9+1)) /9 ×10 , 1 )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6F3D"/>
                </a:solidFill>
                <a:latin typeface="Calibri"/>
              </a:rPr>
              <a:t>■  INFORM Risk  =  ∛ ( H × V × LCC )   — cube-root of the three dimensions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55F6B"/>
                </a:solidFill>
                <a:latin typeface="Calibri"/>
              </a:rPr>
              <a:t>      –  ROUND( H^(1/3) × V^(1/3) × LCC^(1/3) , 1 )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02A43"/>
                </a:solidFill>
                <a:latin typeface="Calibri"/>
              </a:rPr>
              <a:t>■  The geometric mean means a country cannot "average away" one very weak dimension — high hazard with low coping still yields high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THE HONEST PROBLEM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bottleneck: it all lives in deeply hidden Excel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Every reference range, outlier fence, transform and aggregation is buried in hidden worksheets.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Opaque — the math is invisible to the people who use and must trust the numbers.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Fixed unit set — built for ~170 districts; it cannot scale to 195 councils, wards or villages.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Manual &amp; single-file — one workbook, no version control, easy to break, hard to audit.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Closed to local data — no clean way to add a local indicator or feed council-level values.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No automation — no live update, no link to early-warning or anticipatory action.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B42318"/>
                </a:solidFill>
                <a:latin typeface="Calibri"/>
              </a:rPr>
              <a:t>■  Result: the model stops at the national / regional level. Local risk — where decisions are made — is out of 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THE ENABLER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We rebuilt the hidden sheets as a transparent engine — proven identical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The hidden-sheet formulas were reverse-engineered and reproduced exactly in code (a standardisation + aggregation engine).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3D"/>
                </a:solidFill>
                <a:latin typeface="Calibri"/>
              </a:rPr>
              <a:t>■  Proven byte-for-byte against the official workbook: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6F3D"/>
                </a:solidFill>
                <a:latin typeface="Calibri"/>
              </a:rPr>
              <a:t>      –  8,664 / 8,664 standardised indicator cells reproduce the template exactly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6F3D"/>
                </a:solidFill>
                <a:latin typeface="Calibri"/>
              </a:rPr>
              <a:t>      –  170 / 170 district risk scores reproduce the template exactly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Now it scales — the same engine runs unchanged on 195 councils and 31 regions (194/195 match district INFORM; the rest are new post-2024 councils).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Spec-driven &amp; open — add, delete or amend an indicator without touching the math; fully testable and version-controlled.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2A900"/>
                </a:solidFill>
                <a:latin typeface="Calibri"/>
              </a:rPr>
              <a:t>■  The regional INFORM core is never altered — it is reproduced exactly; everything new is additive (v2).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CAPTURING REAL LOCAL DATA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Methods — a federated, bottom-up data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Federated collection tools — one shared Excel sent to every sector; they enter ACTUAL values in natural units and a locked formula shows the 0–10 live.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02A43"/>
                </a:solidFill>
                <a:latin typeface="Calibri"/>
              </a:rPr>
              <a:t>■  One accountable Tanzanian stakeholder per indicator: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      –  TMA (climate), GST (geology), NEMC (environment), MoH (health), NBS (statistics), MoA/MUCHALI (food), MoW (water), PMO-DMD (DRR)…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Bottom-up aggregation — village → district → region → country; finer, well-filled data refines the higher level.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Authentic sources used: NBS 2022 Census, TMA CHIRPS v3 / ERA5, GST seismic catalogue, MoH TDHS-MIS 2022, IPC/MUCHALI, TASAF, and satellite Earth Observation.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3D"/>
                </a:solidFill>
                <a:latin typeface="Calibri"/>
              </a:rPr>
              <a:t>■  Earth Observation computed live (Earth Engine): MODIS NDVI, SMAP soil moisture, CHIRPS aridity — each validated against known geography before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HONEST STATUS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this actually stands — no overselling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5394960" cy="355600"/>
          </a:xfrm>
          <a:prstGeom prst="rect">
            <a:avLst/>
          </a:prstGeom>
          <a:solidFill>
            <a:srgbClr val="1E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4160"/>
            <a:ext cx="5212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SOLID / EXACT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64360"/>
            <a:ext cx="5394960" cy="215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1E6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40560"/>
            <a:ext cx="5065776" cy="200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Engine reproduces the template byte-for-byte: 8,664/8,664 cells, 170/170 risks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Same engine runs at 195 councils / 31 regions (194/195 = district INFORM)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2022 census population per council (sum = 61,741,120, the exact national total)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5394960" cy="3556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34160"/>
            <a:ext cx="5212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PROTOTYPE / PROPOSED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64360"/>
            <a:ext cx="5394960" cy="215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940560"/>
            <a:ext cx="5065776" cy="200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Advanced "exploded" multi-source indicators + weights = literature-proposed, NOT enforced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EO drought layers (aridity P/PET, NDVI, soil moisture) computed &amp; validated — research-grade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Seasonality from CHIRPS 8-zone analysis — context layer, not yet in the index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60520"/>
            <a:ext cx="5394960" cy="3556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85920"/>
            <a:ext cx="5212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TRIED — DID NOT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16120"/>
            <a:ext cx="5394960" cy="215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592320"/>
            <a:ext cx="5065776" cy="200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Sentinel-1 flood (VV&lt;-17dB): FAILED validation — flagged soda-lakes/salt-flats as water → PULLED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Lightning (LIS/OTD): not available on Earth Engine — not done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SMAP soil moisture product is deprecated (ends 2022) — not current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160520"/>
            <a:ext cx="5394960" cy="3556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85920"/>
            <a:ext cx="5212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STILL OPEN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16120"/>
            <a:ext cx="5394960" cy="215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592320"/>
            <a:ext cx="5065776" cy="200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Many vulnerability indicators exist only at region/national level → council = labelled proxy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No sustainable update pipeline; no live link to EOCC / early warning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02A43"/>
                </a:solidFill>
                <a:latin typeface="Calibri"/>
              </a:rPr>
              <a:t>·  TASAF council poverty &amp; IPC food: data exists but locked in PDFs/registry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THE GAP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still missing — the challenge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B42318"/>
                </a:solidFill>
                <a:latin typeface="Calibri"/>
              </a:rPr>
              <a:t>■  Subnational risk is not yet operational — decisions happen at council/ward level, but official INFORM stops at national/regional.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Local data is scattered and uneven — many key indicators exist only at region or national level (poverty, health surveys, GDP).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No sustainable pipeline — capturing, validating and updating local data is still manual and ad-hoc.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Earth-Observation indicators (vegetation, soil moisture, flood, landslide) need proper computation, downscaling and validation.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No live link to action — risk is not yet wired to the EOCC, early-warning, or LGA planning &amp; budgeting.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02A43"/>
                </a:solidFill>
                <a:latin typeface="Calibri"/>
              </a:rPr>
              <a:t>■  Capacity &amp; financing gaps at the local-government level — tools, training and incentives to keep the data flowing.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Calibri"/>
              </a:rPr>
              <a:t>OPPORTUNITIES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Research &amp; financial support — for member-state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86400" cy="640080"/>
          </a:xfrm>
          <a:prstGeom prst="rect">
            <a:avLst/>
          </a:prstGeom>
          <a:solidFill>
            <a:srgbClr val="1E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0" cy="3840480"/>
          </a:xfrm>
          <a:prstGeom prst="rect">
            <a:avLst/>
          </a:prstGeom>
          <a:solidFill>
            <a:srgbClr val="F1F5F9"/>
          </a:solidFill>
          <a:ln w="19050">
            <a:solidFill>
              <a:srgbClr val="1E6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EO computation &amp; statistical downscaling to council/ward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Validation against ground events &amp; independent products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Multi-source "exploded" indicators (one hazard, many institutions)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Climate seasonality (8 rainfall zones) into risk &amp; early warning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Methods publishable as regional public goods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486400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FINANCING &amp; ADOPTION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40280"/>
            <a:ext cx="5486400" cy="3840480"/>
          </a:xfrm>
          <a:prstGeom prst="rect">
            <a:avLst/>
          </a:prstGeom>
          <a:solidFill>
            <a:srgbClr val="F1F5F9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Fund local-data integration &amp; the federated tools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LGA capacity building — train sectors to capture &amp; submit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Scale to SADC / IGAD member states (transparent, open engine)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Wire risk to PMO-DMD EOCC, anticipatory action &amp; PO-RALG planning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02A43"/>
                </a:solidFill>
                <a:latin typeface="Calibri"/>
              </a:rPr>
              <a:t>■  Tanzania as the subnational-INFORM pilot for the region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635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D8E6DC"/>
                </a:solidFill>
                <a:latin typeface="Calibri"/>
              </a:rPr>
              <a:t>▸  The template math is fully understood and reproduced exactly (8,664/8,664; 170/170).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8E6DC"/>
                </a:solidFill>
                <a:latin typeface="Calibri"/>
              </a:rPr>
              <a:t>▸  It runs at council level (195) because it is code, not a hidden-sheet workbook.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8E6DC"/>
                </a:solidFill>
                <a:latin typeface="Calibri"/>
              </a:rPr>
              <a:t>▸  Local-data capture and EO are working but research-grade — and some attempts failed (stated plainly).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8E6DC"/>
                </a:solidFill>
                <a:latin typeface="Calibri"/>
              </a:rPr>
              <a:t>▸  Ask: research partnership + financing to integrate local data and support member-state adoption.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A900"/>
                </a:solidFill>
                <a:latin typeface="Calibri"/>
              </a:rPr>
              <a:t>PMO-DMD Tanzania   ·   INFORM Subnational Risk   · 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