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Calibri"/>
              </a:rPr>
              <a:t>INFORM TANZANIA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Subnational Disaster Risk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From a hidden-sheet Excel template to a scalable, local-data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Prime Minister's Office, Disaster Management Department (PMO-DMD)</a:t>
            </a:r>
          </a:p>
          <a:p>
            <a:pPr algn="l"/>
            <a:r>
              <a:rPr sz="1400" b="0">
                <a:solidFill>
                  <a:srgbClr val="D8E6DC"/>
                </a:solidFill>
                <a:latin typeface="Calibri"/>
              </a:rPr>
              <a:t>Reproducing the regional INFORM model exactly, and scaling it to all 195 councils</a:t>
            </a:r>
          </a:p>
          <a:p>
            <a:pPr algn="l"/>
            <a:r>
              <a:rPr sz="1300" b="0">
                <a:solidFill>
                  <a:srgbClr val="D8E6DC"/>
                </a:solidFill>
                <a:latin typeface="Calibri"/>
              </a:rPr>
              <a:t>June 2026, corrected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BACKGROUND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INFORM?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02A43"/>
                </a:solidFill>
                <a:latin typeface="Calibri"/>
              </a:rPr>
              <a:t>■  INFORM is a global, open composite index of disaster risk: a single 0–10 score per area (0 = lowest risk, 10 = highest).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2A43"/>
                </a:solidFill>
                <a:latin typeface="Calibri"/>
              </a:rPr>
              <a:t>■  Tanzania runs the regional INFORM Model Template (the SADC / IGAD subnational adaptation, 2024 release) at 170 district-level units. INFORM publishes no national figure for a subnational model; the INFORM aggregate of all 195 councils on the workbook data is 3.8 (Hazard &amp; Exposure 2.4, Vulnerability 3.8, Lack of Coping 6.2).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Calibri"/>
              </a:rPr>
              <a:t>■  Risk is built from three dimensions (the INFORM logic):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•  Hazard &amp; Exposure: the threats (drought, flood, earthquake, conflict…) and who/what is exposed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•  Vulnerability: susceptibility of people (poverty, health, food insecurity, displacement)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•  Lack of Coping Capacity: weakness of institutions &amp; infrastructure to respond (WASH, health, DRR, governance)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E6F3D"/>
                </a:solidFill>
                <a:latin typeface="Calibri"/>
              </a:rPr>
              <a:t>■  Each dimension is built from indicators → categories → dimension → the final risk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MODEL TEMPLATE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Structure: 78 indicators → 6 categories → 3 dimensions → 1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HAZARD &amp; EXPOSURE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Natural (drought, flood, earthquake,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landslide, cyclone, coastal, wildfire…)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Human (conflict, violence)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56616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VULNERABILITY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Socio-economic (poverty, GDP,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aid dependency, habitat)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Vulnerable groups (health, nutrition,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food security, displaced people)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3566160" cy="6400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LACK OF COPING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Institutional (DRR, governance)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Infrastructure (WASH, health access,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communication, education)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6F3D"/>
                </a:solidFill>
                <a:latin typeface="Calibri"/>
              </a:rPr>
              <a:t>78 raw indicators (53 currently used for Tanzania) → aggregated to 6 categories → 3 dimensions → one INFORM risk score, for every administrative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HOW THE TEMPLATE WORKS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an actual value to a 0–10 score: the standardisation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93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1.  Actual value (natural unit)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12848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2.  Denominator (÷ population / area / GDP, or none)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71216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3.  Outlier cap: Tukey IQR fence  MAX(MIN(x, Q3+1.5·IQR), Q1−1.5·IQR)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9584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4.  Transform: None | Logarithm LN(0.001+x) | Exponential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87952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428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5.  Min–max scaling: 10 × (x − Min) / (Max − Min)  vs a fixed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6.  Direction: if protective: 10 − score (higher = better)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04688"/>
            <a:ext cx="10881360" cy="548640"/>
          </a:xfrm>
          <a:prstGeom prst="rect">
            <a:avLst/>
          </a:prstGeom>
          <a:solidFill>
            <a:srgbClr val="E6F2E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6F3D"/>
                </a:solidFill>
                <a:latin typeface="Calibri"/>
              </a:rPr>
              <a:t>7.  Clamp [0,10] → ROUND to 1 dp →  the 0–10 indicator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813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F6B"/>
                </a:solidFill>
                <a:latin typeface="Consolas"/>
              </a:rPr>
              <a:t>Excel:  =IF(val="","",IFERROR(MAX(0,MIN(10,ROUND(IF(sign="Decrease",10-base,base),1))),"No data"))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CAPTURING DIVERSITY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few indicators: many different units (why standardisation is needed)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657600"/>
                <a:gridCol w="2560320"/>
              </a:tblGrid>
              <a:tr h="44805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Food security: insufficient food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% of population (Phase 2+)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Historic drought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Internally displaced people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count (number of people)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Gross National Income per capita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(thousands,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Health expenditure per capita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per capita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Physicians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10,000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Measles incidence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1,000,000 population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Soil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Mg / ha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Coastal erosion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metres / year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F3D"/>
                </a:solidFill>
                <a:latin typeface="Calibri"/>
              </a:rPr>
              <a:t>%, years, counts, US$, per-1,000, per-10,000, ratios, Mg/ha/yr, m/yr: all reconciled onto one 0–10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CATEGORISATION &amp; AGGREGATION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standardised indicators to the INFORM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Component  =  AVERAGE of its indicators where Use = "Yes"   (Excel AVERAGEIFS)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Category   =  AVERAGE of its components   (arithmetic mean)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Dimension  =  scaled GEOMEAN of its categories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55F6B"/>
                </a:solidFill>
                <a:latin typeface="Calibri"/>
              </a:rPr>
              <a:t>      •  ROUND( (10 − GEOMEAN((10−c)/10×9+1)) /9 ×10 , 1 )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6F3D"/>
                </a:solidFill>
                <a:latin typeface="Calibri"/>
              </a:rPr>
              <a:t>■  INFORM Risk  =  ∛ ( H × V × LCC )  : cube-root of the three dimensions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55F6B"/>
                </a:solidFill>
                <a:latin typeface="Calibri"/>
              </a:rPr>
              <a:t>      •  ROUND( H^(1/3) × V^(1/3) × LCC^(1/3) , 1 )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02A43"/>
                </a:solidFill>
                <a:latin typeface="Calibri"/>
              </a:rPr>
              <a:t>■  The geometric mean means a country cannot "average away" one very weak dimension: high hazard with low coping still yields high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HONEST PROBLEM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bottleneck: it all lives in deeply hidden Excel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Every reference range, outlier fence, transform and aggregation is buried in hidden worksheets.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Opaque: the math is invisible to the people who use and must trust the numbers.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Fixed unit set: built for ~170 districts; it cannot scale to 195 councils, wards or villages.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Manual &amp; single-file: one workbook, no version control, easy to break, hard to audit.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Closed to local data: no clean way to add a local indicator or feed council-level values.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automation: no live update, no link to early-warning or anticipatory action.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■  Result: the model stops at its 170 district-level units of 2024. Council, ward and village risk, where decisions are made, is out of 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ENABLER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 rebuilt the hidden sheets as a transparent engine: proven identical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The hidden-sheet formulas were reverse-engineered and reproduced exactly in code (a standardisation + aggregation engine).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3D"/>
                </a:solidFill>
                <a:latin typeface="Calibri"/>
              </a:rPr>
              <a:t>■  Proven byte-for-byte against the official workbook: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6F3D"/>
                </a:solidFill>
                <a:latin typeface="Calibri"/>
              </a:rPr>
              <a:t>      •  8,664 / 8,664 standardised indicator cells reproduce the template exactly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6F3D"/>
                </a:solidFill>
                <a:latin typeface="Calibri"/>
              </a:rPr>
              <a:t>      •  170 / 170 district risk scores reproduce the template exactly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Now it scales: the same engine runs unchanged on 195 councils and 31 regions. Each council carries the values of its workbook unit (25 units back two councils; 20 councils created after the workbook inherit, flagged) until institutions enter council values.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Spec-driven &amp; open: add, delete or amend an indicator without touching the math; fully testable and version-controlled.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2A900"/>
                </a:solidFill>
                <a:latin typeface="Calibri"/>
              </a:rPr>
              <a:t>■  The regional INFORM core is never altered: it is reproduced exactly; every Tanzanian addition is a separate, labelled Advancement layer shown beside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CAPTURING REAL LOCAL DATA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Methods: a federated, bottom-up data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Federated collection tools: one shared Excel sent to every sector; they enter ACTUAL values in natural units and a locked formula shows the 0–10 live.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02A43"/>
                </a:solidFill>
                <a:latin typeface="Calibri"/>
              </a:rPr>
              <a:t>■  One accountable Tanzanian stakeholder per indicator: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      •  TMA (climate), GST (geology), NEMC (environment), MoH (health), NBS (statistics), MoA/MUCHALI (food), MoW (water), PMO-DMD (DRR)…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Bottom-up aggregation: village → district → region → country; finer, well-filled data refines the higher level.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Authentic sources used: NBS 2022 Census, TMA CHIRPS v3 / ERA5, GST seismic catalogue, MoH TDHS-MIS 2022, IPC/MUCHALI, TASAF, and satellite Earth Observation.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3D"/>
                </a:solidFill>
                <a:latin typeface="Calibri"/>
              </a:rPr>
              <a:t>■  Earth Observation computed live (Earth Engine): MODIS NDVI, SMAP soil moisture, CHIRPS aridity, each validated against known geography before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HONEST STATUS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this actually stands: no overselling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5394960" cy="35560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416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SOLID / EXACT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6436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4056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Engine reproduces the template byte-for-byte: 8,664/8,664 cells, 170/170 risks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Core = the SADC 2024 workbook values only, rebuilt after the October 2026 integrity audit found 165/170 units altered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2022 census population per council (sum = 61,741,120, the exact national total); data portal with institutional review chains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394960" cy="3556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3416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PROTOTYPE / PROPOSED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6436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4056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Advancement layer: 12 of 25 earth-observation sub-indicators filled (aridity, SPEI depth, rainfall CV, NDVI, soil moisture, heavy rain, heat days, wind, landslide, earthquake record), shown beside the Core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Basket weights are literature-proposed, not calibrated; indices measure intensity, not exposed population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Seasonality from CHIRPS 8-zone analysis: context layer, not yet in the 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5394960" cy="3556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592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TRIED, DID NOT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1612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59232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Composite drought index (4 members blended, raise-only floor): scored wet highland councils 10 → WITHDRAWN; season-failure member withheld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Sentinel-1 flood (VV&lt;-17dB): FAILED validation, flagged soda-lakes/salt-flats as water → PULLED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Lightning (LIS/OTD) not done; SMAP soil moisture product deprecated (ends 2022)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60520"/>
            <a:ext cx="5394960" cy="3556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8592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1612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59232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Six indicator groups empty in the workbook (heatwave, lightning, zoonoses, hazmat, vehicle accidents, vulnerable-groups economic)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Most vulnerability &amp; coping indicators vary only between regions → councils share values, labelled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No sustainable update pipeline from TMA / basin boards / NEMC; no live link to EOCC / early warning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GAP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still missing: the challenge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■  Subnational risk is not yet operational: decisions happen at council/ward level, but the regional INFORM model stops at 170 district-level units.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Local data is scattered and uneven: many key indicators exist only at region or national level (poverty, health surveys, GDP).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sustainable pipeline: capturing, validating and updating local data is still manual and ad-hoc.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Earth-Observation indicators (vegetation, soil moisture, flood, landslide) need proper computation, downscaling and validation.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live link to action: risk is not yet wired to the EOCC, early-warning, or LGA planning &amp; budgeting.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Capacity &amp; financing gaps at the local-government level: tools, training and incentives to keep the data flowing.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OPPORTUNITIES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&amp; financial support: for member-state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0" cy="3840480"/>
          </a:xfrm>
          <a:prstGeom prst="rect">
            <a:avLst/>
          </a:prstGeom>
          <a:solidFill>
            <a:srgbClr val="F1F5F9"/>
          </a:solidFill>
          <a:ln w="1905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EO computation &amp; statistical downscaling to council/ward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Validation against ground events &amp; independent products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Multi-source "exploded" indicators (one hazard, many institutions)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Climate seasonality (8 rainfall zones) into risk &amp; early warning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Methods publishable as regional public goods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48640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FINANCING &amp; ADOPTION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40280"/>
            <a:ext cx="5486400" cy="3840480"/>
          </a:xfrm>
          <a:prstGeom prst="rect">
            <a:avLst/>
          </a:prstGeom>
          <a:solidFill>
            <a:srgbClr val="F1F5F9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Fund local-data integration &amp; the federated tools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LGA capacity building: train sectors to capture &amp; submit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Scale to SADC / IGAD member states (transparent, open engine)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Wire risk to PMO-DMD EOCC, anticipatory action &amp; PO-RALG planning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Tanzania as the subnational-INFORM pilot for the region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The template math is fully understood and reproduced exactly (8,664/8,664; 170/170).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It runs at council level (195) because it is code, not a hidden-sheet workbook.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Earth-observation layers are shown apart from the Core as an Advancement layer; they are research-grade, and some attempts failed (stated plainly).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Ask: research partnership + financing to integrate local data and support member-state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A900"/>
                </a:solidFill>
                <a:latin typeface="Calibri"/>
              </a:rPr>
              <a:t>PMO-DMD Tanzania   ·   INFORM Subnational Risk   · 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